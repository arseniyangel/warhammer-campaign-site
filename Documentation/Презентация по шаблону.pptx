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19.06.2026</a:t>
            </a:fld>
            <a:endParaRPr lang="ru-RU"/>
          </a:p>
        </p:txBody>
      </p:sp>
      <p:sp>
        <p:nvSpPr>
          <p:cNvPr id="49581720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6026E-CAF4-8CBE-32D3-F7A8871B3EE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09FEF-7512-4648-393E-1B0B03DFEEE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407523353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1386906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928184004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055878036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5527050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79638729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569974742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20234974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1036561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8539438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84391499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16483199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52114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166430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60763774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615386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00971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82718963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2" imgW="0" imgH="0" progId="TCLayout.ActiveDocument.1">
                  <p:embed/>
                </p:oleObj>
              </mc:Choice>
              <mc:Fallback>
                <p:oleObj name="oleObj" r:id="rId22" imgW="0" imgH="0" progId="TCLayout.ActiveDocument.1">
                  <p:embed/>
                  <p:pic>
                    <p:nvPicPr>
                      <p:cNvPr id="472394321" name="Объект 6" hidden="1"/>
                      <p:cNvPicPr/>
                      <p:nvPr/>
                    </p:nvPicPr>
                    <p:blipFill rotWithShape="1">
                      <a:blip r:embed="rId23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3807" name="Заголовок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>
                <a:solidFill>
                  <a:srgbClr val="365CA7"/>
                </a:solidFill>
                <a:latin typeface="Arial"/>
              </a:rPr>
              <a:t>Warhammer Campaign Site</a:t>
            </a:r>
            <a:endParaRPr/>
          </a:p>
          <a:p>
            <a:r>
              <a:rPr sz="1800" b="1">
                <a:solidFill>
                  <a:srgbClr val="365CA7"/>
                </a:solidFill>
                <a:latin typeface="Arial"/>
              </a:rPr>
              <a:t>Веб-приложение для ведения нарративных тактических кампаний</a:t>
            </a:r>
          </a:p>
        </p:txBody>
      </p:sp>
      <p:sp>
        <p:nvSpPr>
          <p:cNvPr id="1362476454" name="Текст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  <a:p>
            <a:r>
              <a:rPr sz="1600" dirty="0">
                <a:solidFill>
                  <a:srgbClr val="000000"/>
                </a:solidFill>
                <a:latin typeface="Arial"/>
              </a:rPr>
              <a:t>ДПП ПП «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Фронтенд</a:t>
            </a:r>
            <a:r>
              <a:rPr sz="1600" dirty="0">
                <a:solidFill>
                  <a:srgbClr val="000000"/>
                </a:solidFill>
                <a:latin typeface="Arial"/>
              </a:rPr>
              <a:t> и бэкенд разработка»</a:t>
            </a:r>
          </a:p>
          <a:p>
            <a:r>
              <a:rPr sz="1600" dirty="0">
                <a:solidFill>
                  <a:srgbClr val="000000"/>
                </a:solidFill>
                <a:latin typeface="Arial"/>
              </a:rPr>
              <a:t>Выполнил: </a:t>
            </a:r>
            <a:r>
              <a:rPr lang="ru-RU" sz="1600" dirty="0">
                <a:solidFill>
                  <a:srgbClr val="000000"/>
                </a:solidFill>
              </a:rPr>
              <a:t>Разумов Арсений Дмитриевич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59394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>
                <a:solidFill>
                  <a:srgbClr val="60C2CE"/>
                </a:solidFill>
                <a:latin typeface="Arial"/>
              </a:rPr>
              <a:t>Обоснование разработки</a:t>
            </a:r>
            <a:endParaRPr/>
          </a:p>
        </p:txBody>
      </p:sp>
      <p:sp>
        <p:nvSpPr>
          <p:cNvPr id="1061407742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400" b="1">
                <a:solidFill>
                  <a:srgbClr val="365CA7"/>
                </a:solidFill>
                <a:latin typeface="Arial"/>
              </a:rPr>
              <a:t>Цель и задачи работы</a:t>
            </a:r>
            <a:endParaRPr/>
          </a:p>
        </p:txBody>
      </p:sp>
      <p:sp>
        <p:nvSpPr>
          <p:cNvPr id="1061407743" name="TextBox 1061407742"/>
          <p:cNvSpPr txBox="1"/>
          <p:nvPr/>
        </p:nvSpPr>
        <p:spPr>
          <a:xfrm>
            <a:off x="338328" y="138988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Цель: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разработать полнофункциональное веб-приложение для поддержки нарративных wargame-кампаний, доступное через браузер без установки дополнительного ПО.</a:t>
            </a:r>
          </a:p>
        </p:txBody>
      </p:sp>
      <p:sp>
        <p:nvSpPr>
          <p:cNvPr id="1061407744" name="TextBox 1061407743"/>
          <p:cNvSpPr txBox="1"/>
          <p:nvPr/>
        </p:nvSpPr>
        <p:spPr>
          <a:xfrm>
            <a:off x="338328" y="193852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Задачи:</a:t>
            </a:r>
          </a:p>
        </p:txBody>
      </p:sp>
      <p:sp>
        <p:nvSpPr>
          <p:cNvPr id="1061407745" name="TextBox 1061407744"/>
          <p:cNvSpPr txBox="1"/>
          <p:nvPr/>
        </p:nvSpPr>
        <p:spPr>
          <a:xfrm>
            <a:off x="502920" y="228600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провести анализ конкурентных решений (The Spark, Administratum, BattleSphere.cc);</a:t>
            </a:r>
          </a:p>
        </p:txBody>
      </p:sp>
      <p:sp>
        <p:nvSpPr>
          <p:cNvPr id="1061407746" name="TextBox 1061407745"/>
          <p:cNvSpPr txBox="1"/>
          <p:nvPr/>
        </p:nvSpPr>
        <p:spPr>
          <a:xfrm>
            <a:off x="502920" y="278892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выявить потребности целевой аудитории — Гейм-Мастеров и игроков;</a:t>
            </a:r>
          </a:p>
        </p:txBody>
      </p:sp>
      <p:sp>
        <p:nvSpPr>
          <p:cNvPr id="1061407747" name="TextBox 1061407746"/>
          <p:cNvSpPr txBox="1"/>
          <p:nvPr/>
        </p:nvSpPr>
        <p:spPr>
          <a:xfrm>
            <a:off x="502920" y="329184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спроектировать архитектуру приложения и схему базы данных (10 таблиц);</a:t>
            </a:r>
          </a:p>
        </p:txBody>
      </p:sp>
      <p:sp>
        <p:nvSpPr>
          <p:cNvPr id="1061407748" name="TextBox 1061407747"/>
          <p:cNvSpPr txBox="1"/>
          <p:nvPr/>
        </p:nvSpPr>
        <p:spPr>
          <a:xfrm>
            <a:off x="502920" y="379476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реализовать бэкенд на ASP.NET Core 10 с EF Core и PostgreSQL (Neon);</a:t>
            </a:r>
          </a:p>
        </p:txBody>
      </p:sp>
      <p:sp>
        <p:nvSpPr>
          <p:cNvPr id="1061407749" name="TextBox 1061407748"/>
          <p:cNvSpPr txBox="1"/>
          <p:nvPr/>
        </p:nvSpPr>
        <p:spPr>
          <a:xfrm>
            <a:off x="502920" y="429768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разработать фронтенд с интерактивной SVG-картой (HTML5 / CSS3 / Vanilla JS);</a:t>
            </a:r>
          </a:p>
        </p:txBody>
      </p:sp>
      <p:sp>
        <p:nvSpPr>
          <p:cNvPr id="1061407750" name="TextBox 1061407749"/>
          <p:cNvSpPr txBox="1"/>
          <p:nvPr/>
        </p:nvSpPr>
        <p:spPr>
          <a:xfrm>
            <a:off x="502920" y="480060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развернуть приложение на Render.com с автодеплоем из Git;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9138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>
                <a:solidFill>
                  <a:srgbClr val="60C2CE"/>
                </a:solidFill>
                <a:latin typeface="Arial"/>
              </a:rPr>
              <a:t>Существующие инструменты для ведения wargame-кампаний</a:t>
            </a:r>
            <a:endParaRPr/>
          </a:p>
        </p:txBody>
      </p:sp>
      <p:sp>
        <p:nvSpPr>
          <p:cNvPr id="90621201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400" b="1">
                <a:solidFill>
                  <a:srgbClr val="365CA7"/>
                </a:solidFill>
                <a:latin typeface="Arial"/>
              </a:rPr>
              <a:t>Актуальность и анализ конкурентных решений</a:t>
            </a:r>
            <a:endParaRPr/>
          </a:p>
        </p:txBody>
      </p:sp>
      <p:sp>
        <p:nvSpPr>
          <p:cNvPr id="910791381" name="TextBox 910791380"/>
          <p:cNvSpPr txBox="1"/>
          <p:nvPr/>
        </p:nvSpPr>
        <p:spPr>
          <a:xfrm>
            <a:off x="338328" y="138988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Проблема: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отсутствие единого бесплатного русскоязычного инструмента с тактической картой, ростерами, фракционной экономикой и административной панелью ГМ.</a:t>
            </a:r>
          </a:p>
        </p:txBody>
      </p:sp>
      <p:sp>
        <p:nvSpPr>
          <p:cNvPr id="910791382" name="TextBox 910791381"/>
          <p:cNvSpPr txBox="1"/>
          <p:nvPr/>
        </p:nvSpPr>
        <p:spPr>
          <a:xfrm>
            <a:off x="338328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The Spark (TFE)</a:t>
            </a:r>
          </a:p>
        </p:txBody>
      </p:sp>
      <p:sp>
        <p:nvSpPr>
          <p:cNvPr id="910791383" name="TextBox 910791382"/>
          <p:cNvSpPr txBox="1"/>
          <p:nvPr/>
        </p:nvSpPr>
        <p:spPr>
          <a:xfrm>
            <a:off x="338328" y="22128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C2CE"/>
                </a:solidFill>
                <a:latin typeface="Arial"/>
              </a:rPr>
              <a:t>ВКонтакте-сообщество</a:t>
            </a:r>
          </a:p>
        </p:txBody>
      </p:sp>
      <p:sp>
        <p:nvSpPr>
          <p:cNvPr id="910791384" name="TextBox 910791383"/>
          <p:cNvSpPr txBox="1"/>
          <p:nvPr/>
        </p:nvSpPr>
        <p:spPr>
          <a:xfrm>
            <a:off x="338328" y="24871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Турниры Warhammer / AoS</a:t>
            </a:r>
          </a:p>
        </p:txBody>
      </p:sp>
      <p:sp>
        <p:nvSpPr>
          <p:cNvPr id="910791385" name="TextBox 910791384"/>
          <p:cNvSpPr txBox="1"/>
          <p:nvPr/>
        </p:nvSpPr>
        <p:spPr>
          <a:xfrm>
            <a:off x="338328" y="299008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Нет сайта, нет ростеров и карты</a:t>
            </a:r>
          </a:p>
        </p:txBody>
      </p:sp>
      <p:sp>
        <p:nvSpPr>
          <p:cNvPr id="910791386" name="TextBox 910791385"/>
          <p:cNvSpPr txBox="1"/>
          <p:nvPr/>
        </p:nvSpPr>
        <p:spPr>
          <a:xfrm>
            <a:off x="338328" y="34930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Только турнирный формат</a:t>
            </a:r>
          </a:p>
        </p:txBody>
      </p:sp>
      <p:sp>
        <p:nvSpPr>
          <p:cNvPr id="910791387" name="TextBox 910791386"/>
          <p:cNvSpPr txBox="1"/>
          <p:nvPr/>
        </p:nvSpPr>
        <p:spPr>
          <a:xfrm>
            <a:off x="42976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Administratum</a:t>
            </a:r>
          </a:p>
        </p:txBody>
      </p:sp>
      <p:sp>
        <p:nvSpPr>
          <p:cNvPr id="910791388" name="TextBox 910791387"/>
          <p:cNvSpPr txBox="1"/>
          <p:nvPr/>
        </p:nvSpPr>
        <p:spPr>
          <a:xfrm>
            <a:off x="4297680" y="22128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C2CE"/>
                </a:solidFill>
                <a:latin typeface="Arial"/>
              </a:rPr>
              <a:t>Goonhammer (частично платно)</a:t>
            </a:r>
          </a:p>
        </p:txBody>
      </p:sp>
      <p:sp>
        <p:nvSpPr>
          <p:cNvPr id="910791389" name="TextBox 910791388"/>
          <p:cNvSpPr txBox="1"/>
          <p:nvPr/>
        </p:nvSpPr>
        <p:spPr>
          <a:xfrm>
            <a:off x="4297680" y="24871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Трекер ростеров Crusade 10-й ред.</a:t>
            </a:r>
          </a:p>
        </p:txBody>
      </p:sp>
      <p:sp>
        <p:nvSpPr>
          <p:cNvPr id="910791390" name="TextBox 910791389"/>
          <p:cNvSpPr txBox="1"/>
          <p:nvPr/>
        </p:nvSpPr>
        <p:spPr>
          <a:xfrm>
            <a:off x="4297680" y="299008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Нет тактической карты</a:t>
            </a:r>
          </a:p>
        </p:txBody>
      </p:sp>
      <p:sp>
        <p:nvSpPr>
          <p:cNvPr id="910791391" name="TextBox 910791390"/>
          <p:cNvSpPr txBox="1"/>
          <p:nvPr/>
        </p:nvSpPr>
        <p:spPr>
          <a:xfrm>
            <a:off x="4297680" y="34930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EN-only, частично платный</a:t>
            </a:r>
          </a:p>
        </p:txBody>
      </p:sp>
      <p:sp>
        <p:nvSpPr>
          <p:cNvPr id="910791392" name="TextBox 910791391"/>
          <p:cNvSpPr txBox="1"/>
          <p:nvPr/>
        </p:nvSpPr>
        <p:spPr>
          <a:xfrm>
            <a:off x="8257031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65CA7"/>
                </a:solidFill>
                <a:latin typeface="Arial"/>
              </a:rPr>
              <a:t>BattleSphere.cc</a:t>
            </a:r>
          </a:p>
        </p:txBody>
      </p:sp>
      <p:sp>
        <p:nvSpPr>
          <p:cNvPr id="910791393" name="TextBox 910791392"/>
          <p:cNvSpPr txBox="1"/>
          <p:nvPr/>
        </p:nvSpPr>
        <p:spPr>
          <a:xfrm>
            <a:off x="8257031" y="22128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C2CE"/>
                </a:solidFill>
                <a:latin typeface="Arial"/>
              </a:rPr>
              <a:t>Нарративная платформа</a:t>
            </a:r>
          </a:p>
        </p:txBody>
      </p:sp>
      <p:sp>
        <p:nvSpPr>
          <p:cNvPr id="910791394" name="TextBox 910791393"/>
          <p:cNvSpPr txBox="1"/>
          <p:nvPr/>
        </p:nvSpPr>
        <p:spPr>
          <a:xfrm>
            <a:off x="8257031" y="24871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Интерактивная карта территорий</a:t>
            </a:r>
          </a:p>
        </p:txBody>
      </p:sp>
      <p:sp>
        <p:nvSpPr>
          <p:cNvPr id="910791395" name="TextBox 910791394"/>
          <p:cNvSpPr txBox="1"/>
          <p:nvPr/>
        </p:nvSpPr>
        <p:spPr>
          <a:xfrm>
            <a:off x="8257031" y="299008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Нет экономики фракций</a:t>
            </a:r>
          </a:p>
        </p:txBody>
      </p:sp>
      <p:sp>
        <p:nvSpPr>
          <p:cNvPr id="910791396" name="TextBox 910791395"/>
          <p:cNvSpPr txBox="1"/>
          <p:nvPr/>
        </p:nvSpPr>
        <p:spPr>
          <a:xfrm>
            <a:off x="8257031" y="34930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Нет выделенной роли ГМ</a:t>
            </a:r>
          </a:p>
        </p:txBody>
      </p:sp>
      <p:sp>
        <p:nvSpPr>
          <p:cNvPr id="910791397" name="TextBox 910791396"/>
          <p:cNvSpPr txBox="1"/>
          <p:nvPr/>
        </p:nvSpPr>
        <p:spPr>
          <a:xfrm>
            <a:off x="393191" y="399592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365CA7"/>
                </a:solidFill>
                <a:latin typeface="Arial"/>
              </a:rPr>
              <a:t>Вывод</a:t>
            </a:r>
            <a:r>
              <a:rPr sz="1300" b="1" i="0" dirty="0">
                <a:solidFill>
                  <a:srgbClr val="365CA7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ни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одно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из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решений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обеспечивает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одновременно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карту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кампании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+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ростеры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+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роль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ГМ +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фракционную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экономику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+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русский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интерфейс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graphicFrame>
        <p:nvGraphicFramePr>
          <p:cNvPr id="910791398" name="Table 9107913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80276"/>
              </p:ext>
            </p:extLst>
          </p:nvPr>
        </p:nvGraphicFramePr>
        <p:xfrm>
          <a:off x="304677" y="4809744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Spark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Administratum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BattleSphere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Campaign Site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Карта кампании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 (SVG, 2 слоя)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Ростеры отрядов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 (полное)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Роль ГМ (Admin)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Русский язык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Бесплатно</a:t>
                      </a:r>
                      <a:endParaRPr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Да</a:t>
                      </a:r>
                      <a:endParaRPr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984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>
                <a:solidFill>
                  <a:srgbClr val="60C2CE"/>
                </a:solidFill>
                <a:latin typeface="Arial"/>
              </a:rPr>
              <a:t>Кто пользователи и что им нужно</a:t>
            </a:r>
            <a:endParaRPr lang="ru-RU"/>
          </a:p>
        </p:txBody>
      </p:sp>
      <p:sp>
        <p:nvSpPr>
          <p:cNvPr id="21190543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400" b="1">
                <a:solidFill>
                  <a:srgbClr val="365CA7"/>
                </a:solidFill>
                <a:latin typeface="Arial"/>
              </a:rPr>
              <a:t>Целевая аудитория и требования</a:t>
            </a:r>
            <a:endParaRPr/>
          </a:p>
        </p:txBody>
      </p:sp>
      <p:sp>
        <p:nvSpPr>
          <p:cNvPr id="211905435" name="TextBox 211905434"/>
          <p:cNvSpPr txBox="1"/>
          <p:nvPr/>
        </p:nvSpPr>
        <p:spPr>
          <a:xfrm>
            <a:off x="338328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Целевая аудитория</a:t>
            </a:r>
          </a:p>
        </p:txBody>
      </p:sp>
      <p:sp>
        <p:nvSpPr>
          <p:cNvPr id="211905436" name="TextBox 211905435"/>
          <p:cNvSpPr txBox="1"/>
          <p:nvPr/>
        </p:nvSpPr>
        <p:spPr>
          <a:xfrm>
            <a:off x="338328" y="176479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–  Гейм-Мастер (Admin):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   управляет картой, назначает миссии, распределяет ресурсы и шрамы</a:t>
            </a:r>
          </a:p>
        </p:txBody>
      </p:sp>
      <p:sp>
        <p:nvSpPr>
          <p:cNvPr id="211905437" name="TextBox 211905436"/>
          <p:cNvSpPr txBox="1"/>
          <p:nvPr/>
        </p:nvSpPr>
        <p:spPr>
          <a:xfrm>
            <a:off x="338328" y="277063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–  Игрок (Player):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   ведёт ростер, покупает апгрейды, голосует за миссии</a:t>
            </a:r>
          </a:p>
        </p:txBody>
      </p:sp>
      <p:sp>
        <p:nvSpPr>
          <p:cNvPr id="211905438" name="TextBox 211905437"/>
          <p:cNvSpPr txBox="1"/>
          <p:nvPr/>
        </p:nvSpPr>
        <p:spPr>
          <a:xfrm>
            <a:off x="338328" y="377647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–  Гость: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   просматривает карту, новости, хаб без регистрации</a:t>
            </a:r>
          </a:p>
        </p:txBody>
      </p:sp>
      <p:sp>
        <p:nvSpPr>
          <p:cNvPr id="211905439" name="TextBox 211905438"/>
          <p:cNvSpPr txBox="1"/>
          <p:nvPr/>
        </p:nvSpPr>
        <p:spPr>
          <a:xfrm>
            <a:off x="612648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Ключевые требования</a:t>
            </a:r>
          </a:p>
        </p:txBody>
      </p:sp>
      <p:sp>
        <p:nvSpPr>
          <p:cNvPr id="211905440" name="TextBox 211905439"/>
          <p:cNvSpPr txBox="1"/>
          <p:nvPr/>
        </p:nvSpPr>
        <p:spPr>
          <a:xfrm>
            <a:off x="6126480" y="17647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Ролевая модель: Admin / Player / Guest</a:t>
            </a:r>
          </a:p>
        </p:txBody>
      </p:sp>
      <p:sp>
        <p:nvSpPr>
          <p:cNvPr id="211905441" name="TextBox 211905440"/>
          <p:cNvSpPr txBox="1"/>
          <p:nvPr/>
        </p:nvSpPr>
        <p:spPr>
          <a:xfrm>
            <a:off x="6126480" y="231343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SVG-карта с 2 слоями (поверхность / подземка)</a:t>
            </a:r>
          </a:p>
        </p:txBody>
      </p:sp>
      <p:sp>
        <p:nvSpPr>
          <p:cNvPr id="211905442" name="TextBox 211905441"/>
          <p:cNvSpPr txBox="1"/>
          <p:nvPr/>
        </p:nvSpPr>
        <p:spPr>
          <a:xfrm>
            <a:off x="6126480" y="286207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Ростеры отрядов с трейтами и шрамами (M2M)</a:t>
            </a:r>
          </a:p>
        </p:txBody>
      </p:sp>
      <p:sp>
        <p:nvSpPr>
          <p:cNvPr id="211905443" name="TextBox 211905442"/>
          <p:cNvSpPr txBox="1"/>
          <p:nvPr/>
        </p:nvSpPr>
        <p:spPr>
          <a:xfrm>
            <a:off x="6126480" y="3410711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Фракционная экономика (покупка апгрейдов)</a:t>
            </a:r>
          </a:p>
        </p:txBody>
      </p:sp>
      <p:sp>
        <p:nvSpPr>
          <p:cNvPr id="211905444" name="TextBox 211905443"/>
          <p:cNvSpPr txBox="1"/>
          <p:nvPr/>
        </p:nvSpPr>
        <p:spPr>
          <a:xfrm>
            <a:off x="6126480" y="39593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Голосование игроков за участие в миссиях</a:t>
            </a:r>
          </a:p>
        </p:txBody>
      </p:sp>
      <p:sp>
        <p:nvSpPr>
          <p:cNvPr id="211905445" name="TextBox 211905444"/>
          <p:cNvSpPr txBox="1"/>
          <p:nvPr/>
        </p:nvSpPr>
        <p:spPr>
          <a:xfrm>
            <a:off x="6126480" y="45079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Работа в браузере, без установки ПО</a:t>
            </a:r>
          </a:p>
        </p:txBody>
      </p:sp>
      <p:sp>
        <p:nvSpPr>
          <p:cNvPr id="211905446" name="TextBox 211905445"/>
          <p:cNvSpPr txBox="1"/>
          <p:nvPr/>
        </p:nvSpPr>
        <p:spPr>
          <a:xfrm>
            <a:off x="6126480" y="5056631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Облачное хранение данных (Neon PostgreSQL)</a:t>
            </a:r>
          </a:p>
        </p:txBody>
      </p:sp>
      <p:sp>
        <p:nvSpPr>
          <p:cNvPr id="211905447" name="TextBox 211905446"/>
          <p:cNvSpPr txBox="1"/>
          <p:nvPr/>
        </p:nvSpPr>
        <p:spPr>
          <a:xfrm>
            <a:off x="6126480" y="560527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–  Бесплатный доступ для всех участников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16903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>
                <a:solidFill>
                  <a:srgbClr val="60C2CE"/>
                </a:solidFill>
                <a:latin typeface="Arial"/>
              </a:rPr>
              <a:t>Инструменты и платформы реализации</a:t>
            </a:r>
            <a:endParaRPr/>
          </a:p>
        </p:txBody>
      </p:sp>
      <p:sp>
        <p:nvSpPr>
          <p:cNvPr id="813370003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400" b="1">
                <a:solidFill>
                  <a:srgbClr val="365CA7"/>
                </a:solidFill>
                <a:latin typeface="Arial"/>
              </a:rPr>
              <a:t>Технологический стек</a:t>
            </a:r>
            <a:endParaRPr/>
          </a:p>
        </p:txBody>
      </p:sp>
      <p:graphicFrame>
        <p:nvGraphicFramePr>
          <p:cNvPr id="986016904" name="Table 986016903"/>
          <p:cNvGraphicFramePr>
            <a:graphicFrameLocks noGrp="1"/>
          </p:cNvGraphicFramePr>
          <p:nvPr/>
        </p:nvGraphicFramePr>
        <p:xfrm>
          <a:off x="338328" y="1389888"/>
          <a:ext cx="115214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Слой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Технология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Версия / Назначение</a:t>
                      </a:r>
                    </a:p>
                  </a:txBody>
                  <a:tcPr>
                    <a:solidFill>
                      <a:srgbClr val="365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ASP.NET Core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10.0 — Web API + раздача статики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Entity Framework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10.0.8 — доступ к данным, миграции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БД-провайдер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Npgsql.EF Core.PostgreSQL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10.0.2 — адаптер для PostgreSQL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Аутентификация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Cookie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встроена — сессии .AspNetCore.Cookies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API-документация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Swashbuckle (Swagger)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10.1.7 — только в Development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Vanilla JS ES2020+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Fetch API, без фреймворков, SVG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СУБД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Neon Serverless PostgreSQL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Облако AWS eu-central-1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Хостинг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Render.com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Web Service, автодеплой при git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Контейнер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Docker (multi-stage)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build: sdk:10.0 → final: aspnet:10.0 (~200 MB)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957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>
                <a:solidFill>
                  <a:srgbClr val="60C2CE"/>
                </a:solidFill>
                <a:latin typeface="Arial"/>
              </a:rPr>
              <a:t>Client-Server через REST API · Neon PostgreSQL (Serverless)</a:t>
            </a:r>
            <a:endParaRPr/>
          </a:p>
        </p:txBody>
      </p:sp>
      <p:sp>
        <p:nvSpPr>
          <p:cNvPr id="2047250096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400" b="1">
                <a:solidFill>
                  <a:srgbClr val="365CA7"/>
                </a:solidFill>
                <a:latin typeface="Arial"/>
              </a:rPr>
              <a:t>Архитектура системы</a:t>
            </a:r>
            <a:endParaRPr/>
          </a:p>
        </p:txBody>
      </p:sp>
      <p:sp>
        <p:nvSpPr>
          <p:cNvPr id="2047250097" name="TextBox 2047250096"/>
          <p:cNvSpPr txBox="1"/>
          <p:nvPr/>
        </p:nvSpPr>
        <p:spPr>
          <a:xfrm>
            <a:off x="338328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Браузер</a:t>
            </a:r>
          </a:p>
        </p:txBody>
      </p:sp>
      <p:sp>
        <p:nvSpPr>
          <p:cNvPr id="2047250098" name="TextBox 2047250097"/>
          <p:cNvSpPr txBox="1"/>
          <p:nvPr/>
        </p:nvSpPr>
        <p:spPr>
          <a:xfrm>
            <a:off x="338328" y="16916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C2CE"/>
                </a:solidFill>
                <a:latin typeface="Arial"/>
              </a:rPr>
              <a:t>HTML5 / CSS3 / Vanilla JS</a:t>
            </a:r>
          </a:p>
        </p:txBody>
      </p:sp>
      <p:sp>
        <p:nvSpPr>
          <p:cNvPr id="2047250099" name="TextBox 2047250098"/>
          <p:cNvSpPr txBox="1"/>
          <p:nvPr/>
        </p:nvSpPr>
        <p:spPr>
          <a:xfrm>
            <a:off x="4389120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ASP.NET Core 10</a:t>
            </a:r>
          </a:p>
        </p:txBody>
      </p:sp>
      <p:sp>
        <p:nvSpPr>
          <p:cNvPr id="2047250100" name="TextBox 2047250099"/>
          <p:cNvSpPr txBox="1"/>
          <p:nvPr/>
        </p:nvSpPr>
        <p:spPr>
          <a:xfrm>
            <a:off x="4389120" y="16916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C2CE"/>
                </a:solidFill>
                <a:latin typeface="Arial"/>
              </a:rPr>
              <a:t>REST API + UseStaticFiles</a:t>
            </a:r>
          </a:p>
        </p:txBody>
      </p:sp>
      <p:sp>
        <p:nvSpPr>
          <p:cNvPr id="2047250101" name="TextBox 2047250100"/>
          <p:cNvSpPr txBox="1"/>
          <p:nvPr/>
        </p:nvSpPr>
        <p:spPr>
          <a:xfrm>
            <a:off x="8439912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5CA7"/>
                </a:solidFill>
                <a:latin typeface="Arial"/>
              </a:rPr>
              <a:t>Neon PostgreSQL</a:t>
            </a:r>
          </a:p>
        </p:txBody>
      </p:sp>
      <p:sp>
        <p:nvSpPr>
          <p:cNvPr id="2047250102" name="TextBox 2047250101"/>
          <p:cNvSpPr txBox="1"/>
          <p:nvPr/>
        </p:nvSpPr>
        <p:spPr>
          <a:xfrm>
            <a:off x="8439912" y="16916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C2CE"/>
                </a:solidFill>
                <a:latin typeface="Arial"/>
              </a:rPr>
              <a:t>Serverless, AWS eu-central-1</a:t>
            </a:r>
          </a:p>
        </p:txBody>
      </p:sp>
      <p:sp>
        <p:nvSpPr>
          <p:cNvPr id="2047250103" name="TextBox 2047250102"/>
          <p:cNvSpPr txBox="1"/>
          <p:nvPr/>
        </p:nvSpPr>
        <p:spPr>
          <a:xfrm>
            <a:off x="3995928" y="14630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C2CE"/>
                </a:solidFill>
                <a:latin typeface="Arial"/>
              </a:rPr>
              <a:t>→</a:t>
            </a:r>
          </a:p>
        </p:txBody>
      </p:sp>
      <p:sp>
        <p:nvSpPr>
          <p:cNvPr id="2047250104" name="TextBox 2047250103"/>
          <p:cNvSpPr txBox="1"/>
          <p:nvPr/>
        </p:nvSpPr>
        <p:spPr>
          <a:xfrm>
            <a:off x="8065008" y="14630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C2CE"/>
                </a:solidFill>
                <a:latin typeface="Arial"/>
              </a:rPr>
              <a:t>→</a:t>
            </a:r>
          </a:p>
        </p:txBody>
      </p:sp>
      <p:sp>
        <p:nvSpPr>
          <p:cNvPr id="2047250105" name="TextBox 2047250104"/>
          <p:cNvSpPr txBox="1"/>
          <p:nvPr/>
        </p:nvSpPr>
        <p:spPr>
          <a:xfrm>
            <a:off x="4389120" y="201168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Arial"/>
              </a:rPr>
              <a:t>Контроллеры:</a:t>
            </a:r>
          </a:p>
        </p:txBody>
      </p:sp>
      <p:sp>
        <p:nvSpPr>
          <p:cNvPr id="2047250106" name="TextBox 2047250105"/>
          <p:cNvSpPr txBox="1"/>
          <p:nvPr/>
        </p:nvSpPr>
        <p:spPr>
          <a:xfrm>
            <a:off x="4389120" y="22860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AuthController  /api/auth</a:t>
            </a:r>
          </a:p>
        </p:txBody>
      </p:sp>
      <p:sp>
        <p:nvSpPr>
          <p:cNvPr id="2047250107" name="TextBox 2047250106"/>
          <p:cNvSpPr txBox="1"/>
          <p:nvPr/>
        </p:nvSpPr>
        <p:spPr>
          <a:xfrm>
            <a:off x="4389120" y="267919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SquadsController  /api/squads</a:t>
            </a:r>
          </a:p>
        </p:txBody>
      </p:sp>
      <p:sp>
        <p:nvSpPr>
          <p:cNvPr id="2047250108" name="TextBox 2047250107"/>
          <p:cNvSpPr txBox="1"/>
          <p:nvPr/>
        </p:nvSpPr>
        <p:spPr>
          <a:xfrm>
            <a:off x="4389120" y="30723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MapController  /api/map</a:t>
            </a:r>
          </a:p>
        </p:txBody>
      </p:sp>
      <p:sp>
        <p:nvSpPr>
          <p:cNvPr id="2047250109" name="TextBox 2047250108"/>
          <p:cNvSpPr txBox="1"/>
          <p:nvPr/>
        </p:nvSpPr>
        <p:spPr>
          <a:xfrm>
            <a:off x="4389120" y="346557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HubController  /api/hub</a:t>
            </a:r>
          </a:p>
        </p:txBody>
      </p:sp>
      <p:sp>
        <p:nvSpPr>
          <p:cNvPr id="2047250110" name="TextBox 2047250109"/>
          <p:cNvSpPr txBox="1"/>
          <p:nvPr/>
        </p:nvSpPr>
        <p:spPr>
          <a:xfrm>
            <a:off x="4389120" y="385876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NewsController  /api/news</a:t>
            </a:r>
          </a:p>
        </p:txBody>
      </p:sp>
      <p:sp>
        <p:nvSpPr>
          <p:cNvPr id="2047250111" name="TextBox 2047250110"/>
          <p:cNvSpPr txBox="1"/>
          <p:nvPr/>
        </p:nvSpPr>
        <p:spPr>
          <a:xfrm>
            <a:off x="4389120" y="425196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MissionsController  /api/missions</a:t>
            </a:r>
          </a:p>
        </p:txBody>
      </p:sp>
      <p:sp>
        <p:nvSpPr>
          <p:cNvPr id="2047250112" name="TextBox 2047250111"/>
          <p:cNvSpPr txBox="1"/>
          <p:nvPr/>
        </p:nvSpPr>
        <p:spPr>
          <a:xfrm>
            <a:off x="338328" y="46634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Cold Start (Neon):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вычислительный узел засыпает при простое — Timeout=30;Command Timeout=60 в Connection String. Иначе — System.TimeoutException.</a:t>
            </a:r>
          </a:p>
        </p:txBody>
      </p:sp>
      <p:sp>
        <p:nvSpPr>
          <p:cNvPr id="2047250113" name="TextBox 2047250112"/>
          <p:cNvSpPr txBox="1"/>
          <p:nvPr/>
        </p:nvSpPr>
        <p:spPr>
          <a:xfrm>
            <a:off x="338328" y="5166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Arial"/>
              </a:rPr>
              <a:t>Middleware: 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Routing → Authentication → Authorization → UseStaticFiles → MapControllers</a:t>
            </a:r>
          </a:p>
        </p:txBody>
      </p:sp>
      <p:sp>
        <p:nvSpPr>
          <p:cNvPr id="2047250114" name="TextBox 2047250113"/>
          <p:cNvSpPr txBox="1"/>
          <p:nvPr/>
        </p:nvSpPr>
        <p:spPr>
          <a:xfrm>
            <a:off x="338328" y="55321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Arial"/>
              </a:rPr>
              <a:t>Деплой: 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dotnet publish -c Release -o out  →  dotnet out/CampaignApp.dll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  Credentials только в Render Env Vars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57757" name="TextBox 1460757756"/>
          <p:cNvSpPr txBox="1"/>
          <p:nvPr/>
        </p:nvSpPr>
        <p:spPr>
          <a:xfrm>
            <a:off x="338328" y="73152"/>
            <a:ext cx="10131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365CA7"/>
                </a:solidFill>
                <a:latin typeface="Arial"/>
              </a:rPr>
              <a:t>База</a:t>
            </a:r>
            <a:r>
              <a:rPr sz="2400" b="1" i="0" dirty="0">
                <a:solidFill>
                  <a:srgbClr val="365CA7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365CA7"/>
                </a:solidFill>
                <a:latin typeface="Arial"/>
              </a:rPr>
              <a:t>данных</a:t>
            </a:r>
            <a:endParaRPr sz="2400" b="1" i="0" dirty="0">
              <a:solidFill>
                <a:srgbClr val="365CA7"/>
              </a:solidFill>
              <a:latin typeface="Arial"/>
            </a:endParaRPr>
          </a:p>
        </p:txBody>
      </p:sp>
      <p:sp>
        <p:nvSpPr>
          <p:cNvPr id="1460757758" name="TextBox 1460757757"/>
          <p:cNvSpPr txBox="1"/>
          <p:nvPr/>
        </p:nvSpPr>
        <p:spPr>
          <a:xfrm>
            <a:off x="338328" y="6949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C2CE"/>
                </a:solidFill>
                <a:latin typeface="Arial"/>
              </a:rPr>
              <a:t>PostgreSQL (Neon Serverless) — 10 активных таблиц · EF Core Migrations</a:t>
            </a:r>
          </a:p>
        </p:txBody>
      </p:sp>
      <p:sp>
        <p:nvSpPr>
          <p:cNvPr id="1460757759" name="TextBox 1460757758"/>
          <p:cNvSpPr txBox="1"/>
          <p:nvPr/>
        </p:nvSpPr>
        <p:spPr>
          <a:xfrm>
            <a:off x="338328" y="10972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Faction</a:t>
            </a:r>
          </a:p>
        </p:txBody>
      </p:sp>
      <p:sp>
        <p:nvSpPr>
          <p:cNvPr id="1460757760" name="TextBox 1460757759"/>
          <p:cNvSpPr txBox="1"/>
          <p:nvPr/>
        </p:nvSpPr>
        <p:spPr>
          <a:xfrm>
            <a:off x="345377" y="145141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Courier New"/>
              </a:rPr>
              <a:t>Id · Name · </a:t>
            </a:r>
            <a:r>
              <a:rPr sz="1100" b="0" i="0" dirty="0" err="1">
                <a:solidFill>
                  <a:srgbClr val="000000"/>
                </a:solidFill>
                <a:latin typeface="Courier New"/>
              </a:rPr>
              <a:t>ResourceName</a:t>
            </a:r>
            <a:endParaRPr sz="1100" b="0" i="0" dirty="0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460757761" name="TextBox 1460757760"/>
          <p:cNvSpPr txBox="1"/>
          <p:nvPr/>
        </p:nvSpPr>
        <p:spPr>
          <a:xfrm>
            <a:off x="6281928" y="10972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User</a:t>
            </a:r>
          </a:p>
        </p:txBody>
      </p:sp>
      <p:sp>
        <p:nvSpPr>
          <p:cNvPr id="1460757762" name="TextBox 1460757761"/>
          <p:cNvSpPr txBox="1"/>
          <p:nvPr/>
        </p:nvSpPr>
        <p:spPr>
          <a:xfrm>
            <a:off x="6281928" y="1545336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Courier New"/>
              </a:rPr>
              <a:t>Id · Username · Role · </a:t>
            </a:r>
            <a:r>
              <a:rPr sz="1100" b="0" i="0" dirty="0" err="1">
                <a:solidFill>
                  <a:srgbClr val="000000"/>
                </a:solidFill>
                <a:latin typeface="Courier New"/>
              </a:rPr>
              <a:t>FactionId</a:t>
            </a:r>
            <a:r>
              <a:rPr sz="1100" b="0" i="0" dirty="0">
                <a:solidFill>
                  <a:srgbClr val="000000"/>
                </a:solidFill>
                <a:latin typeface="Courier New"/>
              </a:rPr>
              <a:t> · Balance</a:t>
            </a:r>
          </a:p>
        </p:txBody>
      </p:sp>
      <p:sp>
        <p:nvSpPr>
          <p:cNvPr id="1460757763" name="TextBox 1460757762"/>
          <p:cNvSpPr txBox="1"/>
          <p:nvPr/>
        </p:nvSpPr>
        <p:spPr>
          <a:xfrm>
            <a:off x="338328" y="21945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Squad</a:t>
            </a:r>
          </a:p>
        </p:txBody>
      </p:sp>
      <p:sp>
        <p:nvSpPr>
          <p:cNvPr id="1460757764" name="TextBox 1460757763"/>
          <p:cNvSpPr txBox="1"/>
          <p:nvPr/>
        </p:nvSpPr>
        <p:spPr>
          <a:xfrm>
            <a:off x="246888" y="246888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CustomName · Type · PointsCost · UserId</a:t>
            </a:r>
          </a:p>
        </p:txBody>
      </p:sp>
      <p:sp>
        <p:nvSpPr>
          <p:cNvPr id="1460757765" name="TextBox 1460757764"/>
          <p:cNvSpPr txBox="1"/>
          <p:nvPr/>
        </p:nvSpPr>
        <p:spPr>
          <a:xfrm>
            <a:off x="6281928" y="21945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CrusadeTrait</a:t>
            </a:r>
          </a:p>
        </p:txBody>
      </p:sp>
      <p:sp>
        <p:nvSpPr>
          <p:cNvPr id="1460757766" name="TextBox 1460757765"/>
          <p:cNvSpPr txBox="1"/>
          <p:nvPr/>
        </p:nvSpPr>
        <p:spPr>
          <a:xfrm>
            <a:off x="6281928" y="246888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Name · Type · UnitTypeRestriction
PtsModifier · FractionPointsCost · FactionName</a:t>
            </a:r>
          </a:p>
        </p:txBody>
      </p:sp>
      <p:sp>
        <p:nvSpPr>
          <p:cNvPr id="1460757767" name="TextBox 1460757766"/>
          <p:cNvSpPr txBox="1"/>
          <p:nvPr/>
        </p:nvSpPr>
        <p:spPr>
          <a:xfrm>
            <a:off x="338328" y="32918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SquadUpgrade</a:t>
            </a:r>
          </a:p>
        </p:txBody>
      </p:sp>
      <p:sp>
        <p:nvSpPr>
          <p:cNvPr id="1460757768" name="TextBox 1460757767"/>
          <p:cNvSpPr txBox="1"/>
          <p:nvPr/>
        </p:nvSpPr>
        <p:spPr>
          <a:xfrm>
            <a:off x="338328" y="3566159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SquadId(FK) · CrusadeTraitId(FK)  [M2M]</a:t>
            </a:r>
          </a:p>
        </p:txBody>
      </p:sp>
      <p:sp>
        <p:nvSpPr>
          <p:cNvPr id="1460757769" name="TextBox 1460757768"/>
          <p:cNvSpPr txBox="1"/>
          <p:nvPr/>
        </p:nvSpPr>
        <p:spPr>
          <a:xfrm>
            <a:off x="6281928" y="32918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Sector</a:t>
            </a:r>
          </a:p>
        </p:txBody>
      </p:sp>
      <p:sp>
        <p:nvSpPr>
          <p:cNvPr id="1460757770" name="TextBox 1460757769"/>
          <p:cNvSpPr txBox="1"/>
          <p:nvPr/>
        </p:nvSpPr>
        <p:spPr>
          <a:xfrm>
            <a:off x="6281928" y="3566159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Name · Coordinates · MissionName
MissionStatus · FilesJson · VoterListJson</a:t>
            </a:r>
          </a:p>
        </p:txBody>
      </p:sp>
      <p:sp>
        <p:nvSpPr>
          <p:cNvPr id="1460757771" name="TextBox 1460757770"/>
          <p:cNvSpPr txBox="1"/>
          <p:nvPr/>
        </p:nvSpPr>
        <p:spPr>
          <a:xfrm>
            <a:off x="338328" y="4389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NewsPost</a:t>
            </a:r>
          </a:p>
        </p:txBody>
      </p:sp>
      <p:sp>
        <p:nvSpPr>
          <p:cNvPr id="1460757772" name="TextBox 1460757771"/>
          <p:cNvSpPr txBox="1"/>
          <p:nvPr/>
        </p:nvSpPr>
        <p:spPr>
          <a:xfrm>
            <a:off x="338328" y="46634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Title · Content · CreatedAt</a:t>
            </a:r>
          </a:p>
        </p:txBody>
      </p:sp>
      <p:sp>
        <p:nvSpPr>
          <p:cNvPr id="1460757773" name="TextBox 1460757772"/>
          <p:cNvSpPr txBox="1"/>
          <p:nvPr/>
        </p:nvSpPr>
        <p:spPr>
          <a:xfrm>
            <a:off x="6281928" y="4389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CampaignInfo</a:t>
            </a:r>
          </a:p>
        </p:txBody>
      </p:sp>
      <p:sp>
        <p:nvSpPr>
          <p:cNvPr id="1460757774" name="TextBox 1460757773"/>
          <p:cNvSpPr txBox="1"/>
          <p:nvPr/>
        </p:nvSpPr>
        <p:spPr>
          <a:xfrm>
            <a:off x="6281928" y="46634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Key(PK) · Content · FileUrl</a:t>
            </a:r>
          </a:p>
        </p:txBody>
      </p:sp>
      <p:sp>
        <p:nvSpPr>
          <p:cNvPr id="1460757775" name="TextBox 1460757774"/>
          <p:cNvSpPr txBox="1"/>
          <p:nvPr/>
        </p:nvSpPr>
        <p:spPr>
          <a:xfrm>
            <a:off x="338328" y="5486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CampaignFaq</a:t>
            </a:r>
          </a:p>
        </p:txBody>
      </p:sp>
      <p:sp>
        <p:nvSpPr>
          <p:cNvPr id="1460757776" name="TextBox 1460757775"/>
          <p:cNvSpPr txBox="1"/>
          <p:nvPr/>
        </p:nvSpPr>
        <p:spPr>
          <a:xfrm>
            <a:off x="338328" y="57607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Question · Answer</a:t>
            </a:r>
          </a:p>
        </p:txBody>
      </p:sp>
      <p:sp>
        <p:nvSpPr>
          <p:cNvPr id="1460757777" name="TextBox 1460757776"/>
          <p:cNvSpPr txBox="1"/>
          <p:nvPr/>
        </p:nvSpPr>
        <p:spPr>
          <a:xfrm>
            <a:off x="6281928" y="5486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CampaignMission</a:t>
            </a:r>
          </a:p>
        </p:txBody>
      </p:sp>
      <p:sp>
        <p:nvSpPr>
          <p:cNvPr id="1460757778" name="TextBox 1460757777"/>
          <p:cNvSpPr txBox="1"/>
          <p:nvPr/>
        </p:nvSpPr>
        <p:spPr>
          <a:xfrm>
            <a:off x="6281928" y="57607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Id · Title · Description · Reward · IsActive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21141" name="TextBox 1916921140"/>
          <p:cNvSpPr txBox="1"/>
          <p:nvPr/>
        </p:nvSpPr>
        <p:spPr>
          <a:xfrm>
            <a:off x="365758" y="143701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365CA7"/>
                </a:solidFill>
                <a:latin typeface="Arial"/>
              </a:rPr>
              <a:t>REST API — 6 </a:t>
            </a:r>
            <a:r>
              <a:rPr sz="2400" b="1" i="0" dirty="0" err="1">
                <a:solidFill>
                  <a:srgbClr val="365CA7"/>
                </a:solidFill>
                <a:latin typeface="Arial"/>
              </a:rPr>
              <a:t>контроллеров</a:t>
            </a:r>
            <a:endParaRPr sz="2400" b="1" i="0" dirty="0">
              <a:solidFill>
                <a:srgbClr val="365CA7"/>
              </a:solidFill>
              <a:latin typeface="Arial"/>
            </a:endParaRPr>
          </a:p>
        </p:txBody>
      </p:sp>
      <p:sp>
        <p:nvSpPr>
          <p:cNvPr id="1916921142" name="TextBox 1916921141"/>
          <p:cNvSpPr txBox="1"/>
          <p:nvPr/>
        </p:nvSpPr>
        <p:spPr>
          <a:xfrm>
            <a:off x="338328" y="6949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C2CE"/>
                </a:solidFill>
                <a:latin typeface="Arial"/>
              </a:rPr>
              <a:t>Cookie-аутентификация · [Authorize] · [Authorize(Roles="Admin")]</a:t>
            </a:r>
          </a:p>
        </p:txBody>
      </p:sp>
      <p:sp>
        <p:nvSpPr>
          <p:cNvPr id="1916921143" name="TextBox 1916921142"/>
          <p:cNvSpPr txBox="1"/>
          <p:nvPr/>
        </p:nvSpPr>
        <p:spPr>
          <a:xfrm>
            <a:off x="365758" y="1497013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65CA7"/>
                </a:solidFill>
                <a:latin typeface="Courier New"/>
              </a:rPr>
              <a:t>/</a:t>
            </a:r>
            <a:r>
              <a:rPr sz="1300" b="1" i="0" dirty="0" err="1">
                <a:solidFill>
                  <a:srgbClr val="365CA7"/>
                </a:solidFill>
                <a:latin typeface="Courier New"/>
              </a:rPr>
              <a:t>api</a:t>
            </a:r>
            <a:r>
              <a:rPr sz="1300" b="1" i="0" dirty="0">
                <a:solidFill>
                  <a:srgbClr val="365CA7"/>
                </a:solidFill>
                <a:latin typeface="Courier New"/>
              </a:rPr>
              <a:t>/auth</a:t>
            </a:r>
            <a:r>
              <a:rPr sz="1200" b="0" i="0" dirty="0">
                <a:solidFill>
                  <a:srgbClr val="60C2CE"/>
                </a:solidFill>
                <a:latin typeface="Arial"/>
              </a:rPr>
              <a:t>  — </a:t>
            </a:r>
            <a:r>
              <a:rPr sz="1200" b="0" i="0" dirty="0" err="1">
                <a:solidFill>
                  <a:srgbClr val="60C2CE"/>
                </a:solidFill>
                <a:latin typeface="Arial"/>
              </a:rPr>
              <a:t>AuthController</a:t>
            </a:r>
            <a:endParaRPr sz="1200" b="0" i="0" dirty="0">
              <a:solidFill>
                <a:srgbClr val="60C2CE"/>
              </a:solidFill>
              <a:latin typeface="Arial"/>
            </a:endParaRPr>
          </a:p>
        </p:txBody>
      </p:sp>
      <p:sp>
        <p:nvSpPr>
          <p:cNvPr id="1916921144" name="TextBox 1916921143"/>
          <p:cNvSpPr txBox="1"/>
          <p:nvPr/>
        </p:nvSpPr>
        <p:spPr>
          <a:xfrm>
            <a:off x="365758" y="1856232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Courier New"/>
              </a:rPr>
              <a:t>POST register, login, logout
GET me — </a:t>
            </a:r>
            <a:r>
              <a:rPr sz="1200" b="0" i="0" dirty="0" err="1">
                <a:solidFill>
                  <a:srgbClr val="000000"/>
                </a:solidFill>
                <a:latin typeface="Courier New"/>
              </a:rPr>
              <a:t>текущая</a:t>
            </a:r>
            <a:r>
              <a:rPr sz="1200" b="0" i="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Courier New"/>
              </a:rPr>
              <a:t>роль</a:t>
            </a:r>
            <a:endParaRPr sz="1200" b="0" i="0" dirty="0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916921145" name="TextBox 1916921144"/>
          <p:cNvSpPr txBox="1"/>
          <p:nvPr/>
        </p:nvSpPr>
        <p:spPr>
          <a:xfrm>
            <a:off x="6281928" y="1097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Courier New"/>
              </a:rPr>
              <a:t>/api/squads</a:t>
            </a:r>
            <a:r>
              <a:rPr sz="1200" b="0" i="0">
                <a:solidFill>
                  <a:srgbClr val="60C2CE"/>
                </a:solidFill>
                <a:latin typeface="Arial"/>
              </a:rPr>
              <a:t>  — SquadsController</a:t>
            </a:r>
          </a:p>
        </p:txBody>
      </p:sp>
      <p:sp>
        <p:nvSpPr>
          <p:cNvPr id="1916921146" name="TextBox 1916921145"/>
          <p:cNvSpPr txBox="1"/>
          <p:nvPr/>
        </p:nvSpPr>
        <p:spPr>
          <a:xfrm>
            <a:off x="6281928" y="1408176"/>
            <a:ext cx="5148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GET my-squads, POST buy-upgrade, GET traits-list
Admin: mod-squad, add-trait, add-user-points</a:t>
            </a:r>
          </a:p>
        </p:txBody>
      </p:sp>
      <p:sp>
        <p:nvSpPr>
          <p:cNvPr id="1916921147" name="TextBox 1916921146"/>
          <p:cNvSpPr txBox="1"/>
          <p:nvPr/>
        </p:nvSpPr>
        <p:spPr>
          <a:xfrm>
            <a:off x="338328" y="28620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Courier New"/>
              </a:rPr>
              <a:t>/api/map</a:t>
            </a:r>
            <a:r>
              <a:rPr sz="1200" b="0" i="0">
                <a:solidFill>
                  <a:srgbClr val="60C2CE"/>
                </a:solidFill>
                <a:latin typeface="Arial"/>
              </a:rPr>
              <a:t>  — MapController</a:t>
            </a:r>
          </a:p>
        </p:txBody>
      </p:sp>
      <p:sp>
        <p:nvSpPr>
          <p:cNvPr id="1916921148" name="TextBox 1916921147"/>
          <p:cNvSpPr txBox="1"/>
          <p:nvPr/>
        </p:nvSpPr>
        <p:spPr>
          <a:xfrm>
            <a:off x="338328" y="3172968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GET / — секторы
PUT /{id} — Admin: параметры миссии
POST /{id}/vote — голос игрока</a:t>
            </a:r>
          </a:p>
        </p:txBody>
      </p:sp>
      <p:sp>
        <p:nvSpPr>
          <p:cNvPr id="1916921149" name="TextBox 1916921148"/>
          <p:cNvSpPr txBox="1"/>
          <p:nvPr/>
        </p:nvSpPr>
        <p:spPr>
          <a:xfrm>
            <a:off x="6281928" y="28620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Courier New"/>
              </a:rPr>
              <a:t>/api/hub</a:t>
            </a:r>
            <a:r>
              <a:rPr sz="1200" b="0" i="0">
                <a:solidFill>
                  <a:srgbClr val="60C2CE"/>
                </a:solidFill>
                <a:latin typeface="Arial"/>
              </a:rPr>
              <a:t>  — HubController</a:t>
            </a:r>
          </a:p>
        </p:txBody>
      </p:sp>
      <p:sp>
        <p:nvSpPr>
          <p:cNvPr id="1916921150" name="TextBox 1916921149"/>
          <p:cNvSpPr txBox="1"/>
          <p:nvPr/>
        </p:nvSpPr>
        <p:spPr>
          <a:xfrm>
            <a:off x="6281928" y="3172968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GET/PUT regulations
GET/POST/DELETE faq</a:t>
            </a:r>
          </a:p>
        </p:txBody>
      </p:sp>
      <p:sp>
        <p:nvSpPr>
          <p:cNvPr id="1916921151" name="TextBox 1916921150"/>
          <p:cNvSpPr txBox="1"/>
          <p:nvPr/>
        </p:nvSpPr>
        <p:spPr>
          <a:xfrm>
            <a:off x="338328" y="462686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Courier New"/>
              </a:rPr>
              <a:t>/api/news</a:t>
            </a:r>
            <a:r>
              <a:rPr sz="1200" b="0" i="0">
                <a:solidFill>
                  <a:srgbClr val="60C2CE"/>
                </a:solidFill>
                <a:latin typeface="Arial"/>
              </a:rPr>
              <a:t>  — NewsController</a:t>
            </a:r>
          </a:p>
        </p:txBody>
      </p:sp>
      <p:sp>
        <p:nvSpPr>
          <p:cNvPr id="1916921152" name="TextBox 1916921151"/>
          <p:cNvSpPr txBox="1"/>
          <p:nvPr/>
        </p:nvSpPr>
        <p:spPr>
          <a:xfrm>
            <a:off x="338328" y="49377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GET / — новости (сорт. по дате)
POST / — Admin: создать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305739" name="TextBox 1161305738"/>
          <p:cNvSpPr txBox="1"/>
          <p:nvPr/>
        </p:nvSpPr>
        <p:spPr>
          <a:xfrm>
            <a:off x="338328" y="7315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65CA7"/>
                </a:solidFill>
                <a:latin typeface="Arial"/>
              </a:rPr>
              <a:t>Фронтенд и инициализация данных</a:t>
            </a:r>
          </a:p>
        </p:txBody>
      </p:sp>
      <p:sp>
        <p:nvSpPr>
          <p:cNvPr id="1161305740" name="TextBox 1161305739"/>
          <p:cNvSpPr txBox="1"/>
          <p:nvPr/>
        </p:nvSpPr>
        <p:spPr>
          <a:xfrm>
            <a:off x="338328" y="6949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C2CE"/>
                </a:solidFill>
                <a:latin typeface="Arial"/>
              </a:rPr>
              <a:t>Структура страниц · DbInitializer · Особенности деплоя</a:t>
            </a:r>
          </a:p>
        </p:txBody>
      </p:sp>
      <p:sp>
        <p:nvSpPr>
          <p:cNvPr id="1161305741" name="TextBox 1161305740"/>
          <p:cNvSpPr txBox="1"/>
          <p:nvPr/>
        </p:nvSpPr>
        <p:spPr>
          <a:xfrm>
            <a:off x="338328" y="10972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Страницы фронтенда</a:t>
            </a:r>
          </a:p>
        </p:txBody>
      </p:sp>
      <p:sp>
        <p:nvSpPr>
          <p:cNvPr id="1161305742" name="TextBox 1161305741"/>
          <p:cNvSpPr txBox="1"/>
          <p:nvPr/>
        </p:nvSpPr>
        <p:spPr>
          <a:xfrm>
            <a:off x="338328" y="140817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Courier New"/>
              </a:rPr>
              <a:t>index.html + app.js: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 SVG-карта (2 слоя), голосование, терминал ГМ</a:t>
            </a:r>
          </a:p>
        </p:txBody>
      </p:sp>
      <p:sp>
        <p:nvSpPr>
          <p:cNvPr id="1161305743" name="TextBox 1161305742"/>
          <p:cNvSpPr txBox="1"/>
          <p:nvPr/>
        </p:nvSpPr>
        <p:spPr>
          <a:xfrm>
            <a:off x="338328" y="1984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Courier New"/>
              </a:rPr>
              <a:t>roster.html + roster.js: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 Ростер, магазин апгрейдов, панель ГМ</a:t>
            </a:r>
          </a:p>
        </p:txBody>
      </p:sp>
      <p:sp>
        <p:nvSpPr>
          <p:cNvPr id="1161305744" name="TextBox 1161305743"/>
          <p:cNvSpPr txBox="1"/>
          <p:nvPr/>
        </p:nvSpPr>
        <p:spPr>
          <a:xfrm>
            <a:off x="338328" y="25603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Courier New"/>
              </a:rPr>
              <a:t>rules.html: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 Регламент (PDF-ссылка) + FAQ</a:t>
            </a:r>
          </a:p>
        </p:txBody>
      </p:sp>
      <p:sp>
        <p:nvSpPr>
          <p:cNvPr id="1161305745" name="TextBox 1161305744"/>
          <p:cNvSpPr txBox="1"/>
          <p:nvPr/>
        </p:nvSpPr>
        <p:spPr>
          <a:xfrm>
            <a:off x="338328" y="31363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5CA7"/>
                </a:solidFill>
                <a:latin typeface="Courier New"/>
              </a:rPr>
              <a:t>lore.html + lore.js: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 Лента новостей (/api/news)</a:t>
            </a:r>
          </a:p>
        </p:txBody>
      </p:sp>
      <p:sp>
        <p:nvSpPr>
          <p:cNvPr id="1161305746" name="TextBox 1161305745"/>
          <p:cNvSpPr txBox="1"/>
          <p:nvPr/>
        </p:nvSpPr>
        <p:spPr>
          <a:xfrm>
            <a:off x="6126480" y="10972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5CA7"/>
                </a:solidFill>
                <a:latin typeface="Arial"/>
              </a:rPr>
              <a:t>DbInitializer — порядок инициализации</a:t>
            </a:r>
          </a:p>
        </p:txBody>
      </p:sp>
      <p:sp>
        <p:nvSpPr>
          <p:cNvPr id="1161305747" name="TextBox 1161305746"/>
          <p:cNvSpPr txBox="1"/>
          <p:nvPr/>
        </p:nvSpPr>
        <p:spPr>
          <a:xfrm>
            <a:off x="6126480" y="140817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4 фракции (Id 1–4, фиксированы в DbInitializer)</a:t>
            </a:r>
          </a:p>
        </p:txBody>
      </p:sp>
      <p:sp>
        <p:nvSpPr>
          <p:cNvPr id="1161305748" name="TextBox 1161305747"/>
          <p:cNvSpPr txBox="1"/>
          <p:nvPr/>
        </p:nvSpPr>
        <p:spPr>
          <a:xfrm>
            <a:off x="6126480" y="193852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2 демо-сектора с SVG-координатами и MissionStatus</a:t>
            </a:r>
          </a:p>
        </p:txBody>
      </p:sp>
      <p:sp>
        <p:nvSpPr>
          <p:cNvPr id="1161305749" name="TextBox 1161305748"/>
          <p:cNvSpPr txBox="1"/>
          <p:nvPr/>
        </p:nvSpPr>
        <p:spPr>
          <a:xfrm>
            <a:off x="6126480" y="24688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GameMaster (Admin, pwd=admin, FactionId=null)</a:t>
            </a:r>
          </a:p>
        </p:txBody>
      </p:sp>
      <p:sp>
        <p:nvSpPr>
          <p:cNvPr id="1161305750" name="TextBox 1161305749"/>
          <p:cNvSpPr txBox="1"/>
          <p:nvPr/>
        </p:nvSpPr>
        <p:spPr>
          <a:xfrm>
            <a:off x="6126480" y="299923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Sanguinius_77 (Player, Кровавые Ангелы, баланс 5 ОЧ)</a:t>
            </a:r>
          </a:p>
        </p:txBody>
      </p:sp>
      <p:sp>
        <p:nvSpPr>
          <p:cNvPr id="1161305751" name="TextBox 1161305750"/>
          <p:cNvSpPr txBox="1"/>
          <p:nvPr/>
        </p:nvSpPr>
        <p:spPr>
          <a:xfrm>
            <a:off x="6126480" y="352958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Демо-ростер через Squad (не CustomUnit)</a:t>
            </a:r>
          </a:p>
        </p:txBody>
      </p:sp>
      <p:sp>
        <p:nvSpPr>
          <p:cNvPr id="1161305752" name="TextBox 1161305751"/>
          <p:cNvSpPr txBox="1"/>
          <p:nvPr/>
        </p:nvSpPr>
        <p:spPr>
          <a:xfrm>
            <a:off x="6126480" y="4059935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–  5 трейтов с FractionPointsCost и FactionName</a:t>
            </a:r>
          </a:p>
        </p:txBody>
      </p:sp>
      <p:sp>
        <p:nvSpPr>
          <p:cNvPr id="1161305753" name="TextBox 1161305752"/>
          <p:cNvSpPr txBox="1"/>
          <p:nvPr/>
        </p:nvSpPr>
        <p:spPr>
          <a:xfrm>
            <a:off x="197797" y="5431536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365CA7"/>
                </a:solidFill>
                <a:latin typeface="Arial"/>
              </a:rPr>
              <a:t>Пароль</a:t>
            </a:r>
            <a:r>
              <a:rPr sz="1300" b="1" i="0" dirty="0">
                <a:solidFill>
                  <a:srgbClr val="365CA7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365CA7"/>
                </a:solidFill>
                <a:latin typeface="Arial"/>
              </a:rPr>
              <a:t>GameMaster</a:t>
            </a:r>
            <a:r>
              <a:rPr sz="1300" b="1" i="0" dirty="0">
                <a:solidFill>
                  <a:srgbClr val="365CA7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сменить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через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SQL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после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первого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входа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.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Хеширование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BCrypt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— в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плане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"/>
              </a:rPr>
              <a:t>разработки</a:t>
            </a:r>
            <a:r>
              <a:rPr sz="130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3296920"/>
            <a:ext cx="77724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Warhammer Campaign Site</a:t>
            </a:r>
          </a:p>
          <a:p>
            <a:pPr algn="ctr"/>
            <a:r>
              <a:rPr sz="1400" b="0" i="0" dirty="0">
                <a:solidFill>
                  <a:srgbClr val="60C2CE"/>
                </a:solidFill>
                <a:latin typeface="Courier New"/>
              </a:rPr>
              <a:t>warhammer-campaign-site.onrender.com</a:t>
            </a:r>
          </a:p>
          <a:p>
            <a:pPr algn="ctr"/>
            <a:endParaRPr sz="1400" b="0" i="0" dirty="0">
              <a:solidFill>
                <a:srgbClr val="60C2CE"/>
              </a:solidFill>
              <a:latin typeface="Courier New"/>
            </a:endParaRPr>
          </a:p>
          <a:p>
            <a:pPr algn="ctr"/>
            <a:r>
              <a:rPr lang="ru-RU" sz="1300" dirty="0">
                <a:solidFill>
                  <a:srgbClr val="FFFFFF"/>
                </a:solidFill>
                <a:latin typeface="Arial"/>
              </a:rPr>
              <a:t>5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контроллеров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 ·  10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таблиц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PostgreSQL  ·  4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фракции</a:t>
            </a:r>
            <a:endParaRPr sz="1300" b="0" i="0" dirty="0">
              <a:solidFill>
                <a:srgbClr val="FFFFFF"/>
              </a:solidFill>
              <a:latin typeface="Arial"/>
            </a:endParaRPr>
          </a:p>
          <a:p>
            <a:pPr algn="ctr"/>
            <a:endParaRPr sz="1300" b="0" i="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200" b="0" i="0" dirty="0" err="1">
                <a:solidFill>
                  <a:srgbClr val="CCCCCC"/>
                </a:solidFill>
                <a:latin typeface="Arial"/>
              </a:rPr>
              <a:t>Стек</a:t>
            </a:r>
            <a:r>
              <a:rPr sz="1200" b="0" i="0" dirty="0">
                <a:solidFill>
                  <a:srgbClr val="CCCCCC"/>
                </a:solidFill>
                <a:latin typeface="Arial"/>
              </a:rPr>
              <a:t>: ASP.NET Core 10  ·  EF Core  ·  Neon PostgreSQL  ·  Render  ·  Docker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1100</Words>
  <Application>Microsoft Office PowerPoint</Application>
  <PresentationFormat>Широкоэкранный</PresentationFormat>
  <Paragraphs>199</Paragraphs>
  <Slides>10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Courier New</vt:lpstr>
      <vt:lpstr>Arial</vt:lpstr>
      <vt:lpstr>Wingdings</vt:lpstr>
      <vt:lpstr>1_Theme1</vt:lpstr>
      <vt:lpstr>oleObj</vt:lpstr>
      <vt:lpstr>Warhammer Campaign Site Веб-приложение для ведения нарративных тактических кампаний</vt:lpstr>
      <vt:lpstr>Цель и задачи работы</vt:lpstr>
      <vt:lpstr>Актуальность и анализ конкурентных решений</vt:lpstr>
      <vt:lpstr>Целевая аудитория и требования</vt:lpstr>
      <vt:lpstr>Технологический стек</vt:lpstr>
      <vt:lpstr>Архитектура системы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Арсений Разумов</cp:lastModifiedBy>
  <cp:revision>921</cp:revision>
  <dcterms:created xsi:type="dcterms:W3CDTF">2021-05-24T15:42:45Z</dcterms:created>
  <dcterms:modified xsi:type="dcterms:W3CDTF">2026-06-19T16:10:06Z</dcterms:modified>
</cp:coreProperties>
</file>